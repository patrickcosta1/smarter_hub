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4"/>
    <p:sldMasterId id="2147483659" r:id="rId5"/>
  </p:sldMasterIdLst>
  <p:notesMasterIdLst>
    <p:notesMasterId r:id="rId17"/>
  </p:notesMasterIdLst>
  <p:sldIdLst>
    <p:sldId id="256" r:id="rId6"/>
    <p:sldId id="327" r:id="rId7"/>
    <p:sldId id="368" r:id="rId8"/>
    <p:sldId id="375" r:id="rId9"/>
    <p:sldId id="374" r:id="rId10"/>
    <p:sldId id="376" r:id="rId11"/>
    <p:sldId id="369" r:id="rId12"/>
    <p:sldId id="377" r:id="rId13"/>
    <p:sldId id="370" r:id="rId14"/>
    <p:sldId id="373" r:id="rId15"/>
    <p:sldId id="371" r:id="rId16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berto Pereira" initials="AP" lastIdx="3" clrIdx="0">
    <p:extLst>
      <p:ext uri="{19B8F6BF-5375-455C-9EA6-DF929625EA0E}">
        <p15:presenceInfo xmlns:p15="http://schemas.microsoft.com/office/powerpoint/2012/main" userId="c858069c131b33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BB0"/>
    <a:srgbClr val="9A1A24"/>
    <a:srgbClr val="A33F1F"/>
    <a:srgbClr val="FF5D5D"/>
    <a:srgbClr val="FF9966"/>
    <a:srgbClr val="F2C09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CABEB0-956D-4E67-ADB3-81711B88E7AA}">
  <a:tblStyle styleId="{D6CABEB0-956D-4E67-ADB3-81711B88E7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48" y="-94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Dias Mendes Da Costa" userId="dd66be79-1e31-41d8-9d64-5c1e0e105c49" providerId="ADAL" clId="{59228E5F-405D-45DB-AF19-9309866038C0}"/>
    <pc:docChg chg="undo custSel addSld delSld modSld">
      <pc:chgData name="Patrick Dias Mendes Da Costa" userId="dd66be79-1e31-41d8-9d64-5c1e0e105c49" providerId="ADAL" clId="{59228E5F-405D-45DB-AF19-9309866038C0}" dt="2026-04-29T08:48:28.857" v="41" actId="20577"/>
      <pc:docMkLst>
        <pc:docMk/>
      </pc:docMkLst>
      <pc:sldChg chg="modSp mod">
        <pc:chgData name="Patrick Dias Mendes Da Costa" userId="dd66be79-1e31-41d8-9d64-5c1e0e105c49" providerId="ADAL" clId="{59228E5F-405D-45DB-AF19-9309866038C0}" dt="2026-04-29T08:38:37.330" v="0" actId="20577"/>
        <pc:sldMkLst>
          <pc:docMk/>
          <pc:sldMk cId="0" sldId="256"/>
        </pc:sldMkLst>
        <pc:spChg chg="mod">
          <ac:chgData name="Patrick Dias Mendes Da Costa" userId="dd66be79-1e31-41d8-9d64-5c1e0e105c49" providerId="ADAL" clId="{59228E5F-405D-45DB-AF19-9309866038C0}" dt="2026-04-29T08:38:37.330" v="0" actId="20577"/>
          <ac:spMkLst>
            <pc:docMk/>
            <pc:sldMk cId="0" sldId="256"/>
            <ac:spMk id="2" creationId="{E590B8BF-77A6-4C5C-8578-669C14DED000}"/>
          </ac:spMkLst>
        </pc:spChg>
      </pc:sldChg>
      <pc:sldChg chg="modSp mod">
        <pc:chgData name="Patrick Dias Mendes Da Costa" userId="dd66be79-1e31-41d8-9d64-5c1e0e105c49" providerId="ADAL" clId="{59228E5F-405D-45DB-AF19-9309866038C0}" dt="2026-04-29T08:38:49.158" v="4" actId="20577"/>
        <pc:sldMkLst>
          <pc:docMk/>
          <pc:sldMk cId="2268314253" sldId="327"/>
        </pc:sldMkLst>
        <pc:spChg chg="mod">
          <ac:chgData name="Patrick Dias Mendes Da Costa" userId="dd66be79-1e31-41d8-9d64-5c1e0e105c49" providerId="ADAL" clId="{59228E5F-405D-45DB-AF19-9309866038C0}" dt="2026-04-29T08:38:49.158" v="4" actId="20577"/>
          <ac:spMkLst>
            <pc:docMk/>
            <pc:sldMk cId="2268314253" sldId="327"/>
            <ac:spMk id="3" creationId="{7B141FE6-FB25-4452-8E5F-1B75475DFD11}"/>
          </ac:spMkLst>
        </pc:spChg>
      </pc:sldChg>
      <pc:sldChg chg="modSp mod">
        <pc:chgData name="Patrick Dias Mendes Da Costa" userId="dd66be79-1e31-41d8-9d64-5c1e0e105c49" providerId="ADAL" clId="{59228E5F-405D-45DB-AF19-9309866038C0}" dt="2026-04-29T08:39:34.019" v="8" actId="20577"/>
        <pc:sldMkLst>
          <pc:docMk/>
          <pc:sldMk cId="4008698049" sldId="368"/>
        </pc:sldMkLst>
        <pc:spChg chg="mod">
          <ac:chgData name="Patrick Dias Mendes Da Costa" userId="dd66be79-1e31-41d8-9d64-5c1e0e105c49" providerId="ADAL" clId="{59228E5F-405D-45DB-AF19-9309866038C0}" dt="2026-04-29T08:39:34.019" v="8" actId="20577"/>
          <ac:spMkLst>
            <pc:docMk/>
            <pc:sldMk cId="4008698049" sldId="368"/>
            <ac:spMk id="3" creationId="{7B141FE6-FB25-4452-8E5F-1B75475DFD11}"/>
          </ac:spMkLst>
        </pc:spChg>
      </pc:sldChg>
      <pc:sldChg chg="modSp mod">
        <pc:chgData name="Patrick Dias Mendes Da Costa" userId="dd66be79-1e31-41d8-9d64-5c1e0e105c49" providerId="ADAL" clId="{59228E5F-405D-45DB-AF19-9309866038C0}" dt="2026-04-29T08:41:38.827" v="26" actId="20577"/>
        <pc:sldMkLst>
          <pc:docMk/>
          <pc:sldMk cId="1575781085" sldId="369"/>
        </pc:sldMkLst>
        <pc:spChg chg="mod">
          <ac:chgData name="Patrick Dias Mendes Da Costa" userId="dd66be79-1e31-41d8-9d64-5c1e0e105c49" providerId="ADAL" clId="{59228E5F-405D-45DB-AF19-9309866038C0}" dt="2026-04-29T08:41:38.827" v="26" actId="20577"/>
          <ac:spMkLst>
            <pc:docMk/>
            <pc:sldMk cId="1575781085" sldId="369"/>
            <ac:spMk id="3" creationId="{7B141FE6-FB25-4452-8E5F-1B75475DFD11}"/>
          </ac:spMkLst>
        </pc:spChg>
      </pc:sldChg>
      <pc:sldChg chg="modSp mod">
        <pc:chgData name="Patrick Dias Mendes Da Costa" userId="dd66be79-1e31-41d8-9d64-5c1e0e105c49" providerId="ADAL" clId="{59228E5F-405D-45DB-AF19-9309866038C0}" dt="2026-04-29T08:42:31.144" v="30" actId="20577"/>
        <pc:sldMkLst>
          <pc:docMk/>
          <pc:sldMk cId="0" sldId="370"/>
        </pc:sldMkLst>
        <pc:spChg chg="mod">
          <ac:chgData name="Patrick Dias Mendes Da Costa" userId="dd66be79-1e31-41d8-9d64-5c1e0e105c49" providerId="ADAL" clId="{59228E5F-405D-45DB-AF19-9309866038C0}" dt="2026-04-29T08:42:31.144" v="30" actId="20577"/>
          <ac:spMkLst>
            <pc:docMk/>
            <pc:sldMk cId="0" sldId="370"/>
            <ac:spMk id="3" creationId="{237C9DBE-ABA0-974D-04B5-2BC87BDD8FB5}"/>
          </ac:spMkLst>
        </pc:spChg>
      </pc:sldChg>
      <pc:sldChg chg="modSp mod">
        <pc:chgData name="Patrick Dias Mendes Da Costa" userId="dd66be79-1e31-41d8-9d64-5c1e0e105c49" providerId="ADAL" clId="{59228E5F-405D-45DB-AF19-9309866038C0}" dt="2026-04-29T08:48:28.857" v="41" actId="20577"/>
        <pc:sldMkLst>
          <pc:docMk/>
          <pc:sldMk cId="2067733268" sldId="371"/>
        </pc:sldMkLst>
        <pc:spChg chg="mod">
          <ac:chgData name="Patrick Dias Mendes Da Costa" userId="dd66be79-1e31-41d8-9d64-5c1e0e105c49" providerId="ADAL" clId="{59228E5F-405D-45DB-AF19-9309866038C0}" dt="2026-04-29T08:48:05.506" v="33" actId="20577"/>
          <ac:spMkLst>
            <pc:docMk/>
            <pc:sldMk cId="2067733268" sldId="371"/>
            <ac:spMk id="3" creationId="{1C71E78C-2D62-9D3F-3364-827D8736AFEB}"/>
          </ac:spMkLst>
        </pc:spChg>
        <pc:spChg chg="mod">
          <ac:chgData name="Patrick Dias Mendes Da Costa" userId="dd66be79-1e31-41d8-9d64-5c1e0e105c49" providerId="ADAL" clId="{59228E5F-405D-45DB-AF19-9309866038C0}" dt="2026-04-29T08:48:28.857" v="41" actId="20577"/>
          <ac:spMkLst>
            <pc:docMk/>
            <pc:sldMk cId="2067733268" sldId="371"/>
            <ac:spMk id="4" creationId="{1513D2BA-859E-483F-B831-FB4EBCF3F9A0}"/>
          </ac:spMkLst>
        </pc:spChg>
      </pc:sldChg>
      <pc:sldChg chg="modSp mod">
        <pc:chgData name="Patrick Dias Mendes Da Costa" userId="dd66be79-1e31-41d8-9d64-5c1e0e105c49" providerId="ADAL" clId="{59228E5F-405D-45DB-AF19-9309866038C0}" dt="2026-04-29T08:41:13.687" v="24" actId="20577"/>
        <pc:sldMkLst>
          <pc:docMk/>
          <pc:sldMk cId="2749455125" sldId="374"/>
        </pc:sldMkLst>
        <pc:spChg chg="mod">
          <ac:chgData name="Patrick Dias Mendes Da Costa" userId="dd66be79-1e31-41d8-9d64-5c1e0e105c49" providerId="ADAL" clId="{59228E5F-405D-45DB-AF19-9309866038C0}" dt="2026-04-29T08:41:13.687" v="24" actId="20577"/>
          <ac:spMkLst>
            <pc:docMk/>
            <pc:sldMk cId="2749455125" sldId="374"/>
            <ac:spMk id="3" creationId="{3B69BD01-50B0-F7CD-87DE-1626E8D8D3F6}"/>
          </ac:spMkLst>
        </pc:spChg>
      </pc:sldChg>
      <pc:sldChg chg="modSp add mod">
        <pc:chgData name="Patrick Dias Mendes Da Costa" userId="dd66be79-1e31-41d8-9d64-5c1e0e105c49" providerId="ADAL" clId="{59228E5F-405D-45DB-AF19-9309866038C0}" dt="2026-04-29T08:39:12.934" v="7" actId="5793"/>
        <pc:sldMkLst>
          <pc:docMk/>
          <pc:sldMk cId="33037351" sldId="375"/>
        </pc:sldMkLst>
        <pc:spChg chg="mod">
          <ac:chgData name="Patrick Dias Mendes Da Costa" userId="dd66be79-1e31-41d8-9d64-5c1e0e105c49" providerId="ADAL" clId="{59228E5F-405D-45DB-AF19-9309866038C0}" dt="2026-04-29T08:39:12.934" v="7" actId="5793"/>
          <ac:spMkLst>
            <pc:docMk/>
            <pc:sldMk cId="33037351" sldId="375"/>
            <ac:spMk id="3" creationId="{DA8A7C52-8C94-6524-6843-8CFA7B274E50}"/>
          </ac:spMkLst>
        </pc:spChg>
      </pc:sldChg>
      <pc:sldChg chg="modSp add mod">
        <pc:chgData name="Patrick Dias Mendes Da Costa" userId="dd66be79-1e31-41d8-9d64-5c1e0e105c49" providerId="ADAL" clId="{59228E5F-405D-45DB-AF19-9309866038C0}" dt="2026-04-29T08:40:50.891" v="23" actId="5793"/>
        <pc:sldMkLst>
          <pc:docMk/>
          <pc:sldMk cId="563404411" sldId="376"/>
        </pc:sldMkLst>
        <pc:spChg chg="mod">
          <ac:chgData name="Patrick Dias Mendes Da Costa" userId="dd66be79-1e31-41d8-9d64-5c1e0e105c49" providerId="ADAL" clId="{59228E5F-405D-45DB-AF19-9309866038C0}" dt="2026-04-29T08:40:50.891" v="23" actId="5793"/>
          <ac:spMkLst>
            <pc:docMk/>
            <pc:sldMk cId="563404411" sldId="376"/>
            <ac:spMk id="3" creationId="{D3758257-7DBE-B63D-8A56-A2631DAB0F75}"/>
          </ac:spMkLst>
        </pc:spChg>
      </pc:sldChg>
      <pc:sldChg chg="modSp add mod">
        <pc:chgData name="Patrick Dias Mendes Da Costa" userId="dd66be79-1e31-41d8-9d64-5c1e0e105c49" providerId="ADAL" clId="{59228E5F-405D-45DB-AF19-9309866038C0}" dt="2026-04-29T08:41:52.889" v="28" actId="5793"/>
        <pc:sldMkLst>
          <pc:docMk/>
          <pc:sldMk cId="1590180005" sldId="377"/>
        </pc:sldMkLst>
        <pc:spChg chg="mod">
          <ac:chgData name="Patrick Dias Mendes Da Costa" userId="dd66be79-1e31-41d8-9d64-5c1e0e105c49" providerId="ADAL" clId="{59228E5F-405D-45DB-AF19-9309866038C0}" dt="2026-04-29T08:41:52.889" v="28" actId="5793"/>
          <ac:spMkLst>
            <pc:docMk/>
            <pc:sldMk cId="1590180005" sldId="377"/>
            <ac:spMk id="3" creationId="{41548714-21BC-F2A1-6633-0AD9950A7793}"/>
          </ac:spMkLst>
        </pc:spChg>
      </pc:sldChg>
      <pc:sldChg chg="del">
        <pc:chgData name="Patrick Dias Mendes Da Costa" userId="dd66be79-1e31-41d8-9d64-5c1e0e105c49" providerId="ADAL" clId="{59228E5F-405D-45DB-AF19-9309866038C0}" dt="2026-04-29T08:46:50.826" v="31" actId="47"/>
        <pc:sldMkLst>
          <pc:docMk/>
          <pc:sldMk cId="0" sldId="378"/>
        </pc:sldMkLst>
      </pc:sldChg>
      <pc:sldChg chg="del">
        <pc:chgData name="Patrick Dias Mendes Da Costa" userId="dd66be79-1e31-41d8-9d64-5c1e0e105c49" providerId="ADAL" clId="{59228E5F-405D-45DB-AF19-9309866038C0}" dt="2026-04-29T08:46:50.826" v="31" actId="47"/>
        <pc:sldMkLst>
          <pc:docMk/>
          <pc:sldMk cId="0" sldId="379"/>
        </pc:sldMkLst>
      </pc:sldChg>
      <pc:sldChg chg="del">
        <pc:chgData name="Patrick Dias Mendes Da Costa" userId="dd66be79-1e31-41d8-9d64-5c1e0e105c49" providerId="ADAL" clId="{59228E5F-405D-45DB-AF19-9309866038C0}" dt="2026-04-29T08:46:50.826" v="31" actId="47"/>
        <pc:sldMkLst>
          <pc:docMk/>
          <pc:sldMk cId="0" sldId="3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pt-PT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44081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" name="Shape 58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3F0F37A-2B4D-9FDC-057B-CC315243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>
            <a:extLst>
              <a:ext uri="{FF2B5EF4-FFF2-40B4-BE49-F238E27FC236}">
                <a16:creationId xmlns:a16="http://schemas.microsoft.com/office/drawing/2014/main" id="{4060F36C-F942-43F7-F814-3317F61CB6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86" name="Shape 86">
            <a:extLst>
              <a:ext uri="{FF2B5EF4-FFF2-40B4-BE49-F238E27FC236}">
                <a16:creationId xmlns:a16="http://schemas.microsoft.com/office/drawing/2014/main" id="{F4138A69-2593-9370-6D96-8C7E013254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523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79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ó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986928-2F1A-05D5-49A7-ECF44F7E6983}"/>
              </a:ext>
            </a:extLst>
          </p:cNvPr>
          <p:cNvSpPr/>
          <p:nvPr userDrawn="1"/>
        </p:nvSpPr>
        <p:spPr>
          <a:xfrm>
            <a:off x="1" y="1093304"/>
            <a:ext cx="9906000" cy="5764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/>
              </a:solidFill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14000" y="4000503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pic>
        <p:nvPicPr>
          <p:cNvPr id="3" name="Imagem 2" descr="Uma imagem com logótipo&#10;&#10;Descrição gerada automaticamente">
            <a:extLst>
              <a:ext uri="{FF2B5EF4-FFF2-40B4-BE49-F238E27FC236}">
                <a16:creationId xmlns:a16="http://schemas.microsoft.com/office/drawing/2014/main" id="{4F54170D-8E4B-D413-AB75-F3AF18C14D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9746" y="1238249"/>
            <a:ext cx="2762254" cy="27622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m branc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534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0000"/>
              </a:buClr>
              <a:buFont typeface="Calibri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534399" cy="43053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•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Font typeface="Arial"/>
              <a:buChar char="■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»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1D1FC4-6243-41CD-9D5B-A6553C84873C}"/>
              </a:ext>
            </a:extLst>
          </p:cNvPr>
          <p:cNvSpPr/>
          <p:nvPr userDrawn="1"/>
        </p:nvSpPr>
        <p:spPr>
          <a:xfrm>
            <a:off x="579188" y="6525785"/>
            <a:ext cx="14510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Internal</a:t>
            </a:r>
            <a:r>
              <a:rPr lang="pt-PT" sz="1200" b="1" i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 Use </a:t>
            </a:r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Only</a:t>
            </a:r>
            <a:endParaRPr lang="pt-PT" sz="1200" i="1">
              <a:solidFill>
                <a:schemeClr val="bg1"/>
              </a:solidFill>
              <a:latin typeface="Kozuka Gothic Pro M" panose="020B0700000000000000" pitchFamily="34" charset="-128"/>
              <a:ea typeface="Kozuka Gothic Pro M" panose="020B0700000000000000" pitchFamily="34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cçã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80967" y="4000503"/>
            <a:ext cx="821537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■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452406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object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14000" y="1000108"/>
            <a:ext cx="904320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14000" y="1714486"/>
            <a:ext cx="90432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údo Dup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14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body" idx="2"/>
          </p:nvPr>
        </p:nvSpPr>
        <p:spPr>
          <a:xfrm>
            <a:off x="4968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pic" idx="2"/>
          </p:nvPr>
        </p:nvSpPr>
        <p:spPr>
          <a:xfrm>
            <a:off x="414000" y="1004400"/>
            <a:ext cx="9043200" cy="530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3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523843" y="5505467"/>
            <a:ext cx="5943599" cy="352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523843" y="5929330"/>
            <a:ext cx="8858312" cy="2762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●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○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 branc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6105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610599" cy="45720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ntra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/>
          <p:nvPr/>
        </p:nvSpPr>
        <p:spPr>
          <a:xfrm flipH="1">
            <a:off x="6764158" y="4953000"/>
            <a:ext cx="182741" cy="37471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 b="0" i="0" u="none" strike="noStrike" cap="none">
              <a:solidFill>
                <a:srgbClr val="00CA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ntra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4BF4C-D16F-4097-B796-FC0B3950F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2F11D2-EE8A-4FAF-855F-A6DC4B6E5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B0BF58-4E7C-4241-8713-BD3C92C5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6BEE63E-0634-491E-BB20-3EBC9FC6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305C63C-6A0C-4F04-9160-784E6263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1697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82CA9-0BCB-4410-9E39-AA52C1137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C5935E3-3108-49BB-8770-ED1F37853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42FD7EC-7CDC-4C63-B729-00D46BE2F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54AFD79-23D8-45DB-9445-3FC8F60D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35935CE-2CB6-483C-BEED-D5E4BAB9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5214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8FCF0-C289-49D5-8E31-676A39D2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B2C679C-ADC5-43B5-A7CD-2F21DA141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0BF22E8-F7D4-4BF5-913F-AB18B374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EDEA4D0-3261-40F9-91A0-6B7DD425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77FF4A0-CA59-46CB-AE8D-F52F7320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0051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836EB-2F3D-4286-ADB0-C36C53CA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FE0C29B-87D2-46A9-89B2-77302740C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1D5AF9C-CF25-46BB-AE77-CC0533E17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522DA5C-E4BA-4ADE-A6D8-8A73C384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B3BDE2C-ACA9-4DF9-B543-783E11AC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58CE4A4-1A36-4069-8D22-BA54F3D6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5348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AF034A-2C6E-4D4D-97AB-F8EADF12E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736E193-FB6E-4F23-94BF-2B622C80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25010ED-1C7F-4F1B-9C6F-1A8D27E60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E0684CB-F0DB-4A86-A316-660DE208C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1245529-09FF-4728-9CEC-663DD4BE7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D809D859-DCCF-4275-A585-33AE9B111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6ED1405E-4351-4065-A841-9F0257DC2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727362B-9F5C-4EE3-9157-B34BF4D4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68246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1F633-937D-45B5-835A-F4BAA5EF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5F8D264-3A4A-4BFA-8C5E-A9668780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7E7BE45-9C51-4B80-8387-B10658EE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D9B252E-A2C4-42D1-87FF-9F6476EB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099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176BC25-309D-4531-93E1-9A946731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EA29FB77-35BA-48AC-9717-1560B904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F3E3225-6685-4665-802D-482373B2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0466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6B754-3DDB-4E64-AD2B-0CAE1D70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8D44A5A-37EA-4DDB-89E2-748C8B466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E2698BB-5758-4729-B6CF-81D42386A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4DFC358-D037-4730-8ADF-A45AA5B0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283EBBA-ABCD-4ED4-ABD6-9875E687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B139BB9-F366-425C-AAC0-CB83102E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0525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E8EC0-18B9-4960-9D13-08DB252AF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455365A-168E-44B0-A58C-DD5510442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4C849D9-D59E-47BB-8346-F53D1243A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9A09EAB-C0B9-41FD-A396-4C97EED4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D301BCF-B2BE-4E08-97B0-9ECC9541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931AE2E-37BF-4768-A083-2FC483A3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0730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172F8-7901-4E0D-AC3B-51243BB1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A0F5338-FE67-4606-820E-629ABCE26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C74598B-9748-45A1-A787-2D47EF00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12F3648-7C0B-4DD4-9FD0-D3F89228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0C71668-3EA2-46C6-992F-386B2146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47736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B527D6-1779-419C-A7B3-D5A2AAAEE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E0933C6-24D3-45CE-9C82-0D2A3C69F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C84456B-1085-44F0-880A-A897C9A57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11A7EE3-7A12-473C-AEDD-70FBB0A1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7CDBAAF-89CE-48B1-AF8F-94BB964A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563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m logótipo&#10;&#10;Descrição gerada automaticamente">
            <a:extLst>
              <a:ext uri="{FF2B5EF4-FFF2-40B4-BE49-F238E27FC236}">
                <a16:creationId xmlns:a16="http://schemas.microsoft.com/office/drawing/2014/main" id="{89812BB5-AFB4-8F11-44CD-B670712301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alphaModFix amt="3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Blur radius="2"/>
                    </a14:imgEffect>
                    <a14:imgEffect>
                      <a14:sharpenSoften amount="-78000"/>
                    </a14:imgEffect>
                  </a14:imgLayer>
                </a14:imgProps>
              </a:ext>
            </a:extLst>
          </a:blip>
          <a:srcRect l="30764" b="3823"/>
          <a:stretch/>
        </p:blipFill>
        <p:spPr>
          <a:xfrm>
            <a:off x="4533" y="4600146"/>
            <a:ext cx="1362534" cy="1892729"/>
          </a:xfrm>
          <a:prstGeom prst="rect">
            <a:avLst/>
          </a:prstGeom>
          <a:effectLst>
            <a:glow rad="279400">
              <a:schemeClr val="bg1">
                <a:lumMod val="95000"/>
                <a:alpha val="38000"/>
              </a:schemeClr>
            </a:glow>
          </a:effectLst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D0DF30C-F77B-4F2F-9EB1-3B93EBB0DB99}"/>
              </a:ext>
            </a:extLst>
          </p:cNvPr>
          <p:cNvSpPr/>
          <p:nvPr userDrawn="1"/>
        </p:nvSpPr>
        <p:spPr>
          <a:xfrm>
            <a:off x="324908" y="6390861"/>
            <a:ext cx="9214886" cy="467139"/>
          </a:xfrm>
          <a:prstGeom prst="roundRect">
            <a:avLst>
              <a:gd name="adj" fmla="val 6170"/>
            </a:avLst>
          </a:prstGeom>
          <a:solidFill>
            <a:srgbClr val="9A1A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9A1A24"/>
              </a:solidFill>
            </a:endParaRP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6831106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1" u="none" strike="noStrike" cap="none">
                <a:solidFill>
                  <a:srgbClr val="888888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PT" dirty="0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632453" y="6492875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99CD682-A754-641B-CBC9-11942BCD17B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1883" y="34706"/>
            <a:ext cx="9267825" cy="981075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31D2EF43-2972-46D6-A9E5-CBD2B847A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563344B-C18B-4DE0-A59A-014E6EB2A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4EFA124-EEA3-4E29-9410-C1C8C727F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F822C-469B-4292-BAFD-08428F7C7086}" type="datetimeFigureOut">
              <a:rPr lang="pt-PT" smtClean="0"/>
              <a:t>29/04/2026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CBBD092-3452-4D9D-9947-CF1040718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98FDFAF-09E3-4AEE-AB0F-7B5F1A2A8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CE6F2-97B3-4224-8C44-99F0C095C7C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864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90B8BF-77A6-4C5C-8578-669C14DED000}"/>
              </a:ext>
            </a:extLst>
          </p:cNvPr>
          <p:cNvSpPr/>
          <p:nvPr/>
        </p:nvSpPr>
        <p:spPr>
          <a:xfrm>
            <a:off x="649626" y="3763186"/>
            <a:ext cx="8227674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2400" dirty="0">
                <a:solidFill>
                  <a:srgbClr val="A5ABB0"/>
                </a:solidFill>
                <a:latin typeface="Kozuka Gothic Pro M" panose="020B0700000000000000" pitchFamily="34" charset="-128"/>
                <a:ea typeface="Kozuka Gothic Pro M"/>
              </a:rPr>
              <a:t>PROES 25/26</a:t>
            </a:r>
          </a:p>
          <a:p>
            <a:endParaRPr lang="pt-PT" sz="2400" dirty="0">
              <a:solidFill>
                <a:srgbClr val="A5ABB0"/>
              </a:solidFill>
              <a:latin typeface="Kozuka Gothic Pro M" panose="020B0700000000000000" pitchFamily="34" charset="-128"/>
              <a:ea typeface="Kozuka Gothic Pro M" panose="020B0700000000000000" pitchFamily="34" charset="-128"/>
            </a:endParaRPr>
          </a:p>
          <a:p>
            <a:r>
              <a:rPr lang="pt-PT" sz="2400" dirty="0" err="1">
                <a:solidFill>
                  <a:srgbClr val="A5ABB0"/>
                </a:solidFill>
                <a:ea typeface="Kozuka Gothic Pro M" panose="020B0700000000000000" pitchFamily="34" charset="-128"/>
              </a:rPr>
              <a:t>Smarter</a:t>
            </a:r>
            <a:r>
              <a:rPr lang="pt-PT" sz="2400" dirty="0">
                <a:solidFill>
                  <a:srgbClr val="A5ABB0"/>
                </a:solidFill>
                <a:ea typeface="Kozuka Gothic Pro M" panose="020B0700000000000000" pitchFamily="34" charset="-128"/>
              </a:rPr>
              <a:t> </a:t>
            </a:r>
            <a:r>
              <a:rPr lang="pt-PT" sz="2400" dirty="0" err="1">
                <a:solidFill>
                  <a:srgbClr val="A5ABB0"/>
                </a:solidFill>
                <a:ea typeface="Kozuka Gothic Pro M" panose="020B0700000000000000" pitchFamily="34" charset="-128"/>
              </a:rPr>
              <a:t>Hub</a:t>
            </a:r>
            <a:r>
              <a:rPr lang="pt-PT" sz="2400" dirty="0">
                <a:solidFill>
                  <a:srgbClr val="A5ABB0"/>
                </a:solidFill>
                <a:ea typeface="Kozuka Gothic Pro M" panose="020B0700000000000000" pitchFamily="34" charset="-128"/>
              </a:rPr>
              <a:t> - Plataforma Integrada de Gestão de Colaboradores</a:t>
            </a:r>
          </a:p>
          <a:p>
            <a:r>
              <a:rPr lang="pt-PT" sz="2400" dirty="0">
                <a:solidFill>
                  <a:srgbClr val="A5ABB0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</a:rPr>
              <a:t>Patrick Costa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F48B1-7E58-4369-B684-A45E8570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Identificação e stakeholders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B141FE6-FB25-4452-8E5F-1B75475DF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300" b="1" dirty="0">
                <a:solidFill>
                  <a:srgbClr val="1856B8"/>
                </a:solidFill>
              </a:rPr>
              <a:t>Identificação do aluno e entidade</a:t>
            </a:r>
          </a:p>
          <a:p>
            <a:r>
              <a:rPr lang="pt-PT" sz="1100" dirty="0">
                <a:solidFill>
                  <a:srgbClr val="1A1A2E"/>
                </a:solidFill>
              </a:rPr>
              <a:t>Aluno: Patrick Dias Mendes da Costa</a:t>
            </a:r>
          </a:p>
          <a:p>
            <a:r>
              <a:rPr lang="pt-PT" sz="1100" dirty="0">
                <a:solidFill>
                  <a:srgbClr val="1A1A2E"/>
                </a:solidFill>
              </a:rPr>
              <a:t>Supervisor: Camila Teixeira</a:t>
            </a:r>
          </a:p>
          <a:p>
            <a:r>
              <a:rPr lang="pt-PT" sz="1100" dirty="0">
                <a:solidFill>
                  <a:srgbClr val="1A1A2E"/>
                </a:solidFill>
              </a:rPr>
              <a:t>Orientador: Marílio Cardoso</a:t>
            </a:r>
          </a:p>
          <a:p>
            <a:r>
              <a:rPr lang="pt-PT" sz="1100" dirty="0">
                <a:solidFill>
                  <a:srgbClr val="1A1A2E"/>
                </a:solidFill>
              </a:rPr>
              <a:t>Entidade acolhedora: Tlantic Portugal - Sistemas de Informação, S.A.</a:t>
            </a:r>
          </a:p>
          <a:p>
            <a:r>
              <a:rPr lang="pt-PT" sz="1100" dirty="0">
                <a:solidFill>
                  <a:srgbClr val="1A1A2E"/>
                </a:solidFill>
              </a:rPr>
              <a:t>Local e modo: Porto - regime híbrido</a:t>
            </a:r>
          </a:p>
          <a:p>
            <a:endParaRPr lang="pt-PT" sz="1100" dirty="0">
              <a:solidFill>
                <a:srgbClr val="1A1A2E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Matriz de stakeholders</a:t>
            </a:r>
          </a:p>
          <a:p>
            <a:r>
              <a:rPr lang="pt-PT" sz="1100" b="1" dirty="0">
                <a:solidFill>
                  <a:srgbClr val="0C2A59"/>
                </a:solidFill>
              </a:rPr>
              <a:t>Estudante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Análise, conceção, implementação, testes e documentação</a:t>
            </a:r>
          </a:p>
          <a:p>
            <a:r>
              <a:rPr lang="pt-PT" sz="1100" b="1" dirty="0">
                <a:solidFill>
                  <a:srgbClr val="0C2A59"/>
                </a:solidFill>
              </a:rPr>
              <a:t>Supervisora (Camila Teixeira - Tlantic)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Priorização funcional, validação do problema e feedback sobre a solução</a:t>
            </a:r>
          </a:p>
          <a:p>
            <a:r>
              <a:rPr lang="pt-PT" sz="1100" b="1" dirty="0">
                <a:solidFill>
                  <a:srgbClr val="0C2A59"/>
                </a:solidFill>
              </a:rPr>
              <a:t>Orientador (Marílio Cardoso - ISEP)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Acompanhamento académico, revisão estrutural e delimitação do escopo</a:t>
            </a:r>
          </a:p>
          <a:p>
            <a:r>
              <a:rPr lang="pt-PT" sz="1100" b="1" dirty="0">
                <a:solidFill>
                  <a:srgbClr val="0C2A59"/>
                </a:solidFill>
              </a:rPr>
              <a:t>RH / Gestores de equipa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Fonte de requisitos, validação de fluxos e critério de aceitação operacional</a:t>
            </a:r>
          </a:p>
        </p:txBody>
      </p:sp>
    </p:spTree>
    <p:extLst>
      <p:ext uri="{BB962C8B-B14F-4D97-AF65-F5344CB8AC3E}">
        <p14:creationId xmlns:p14="http://schemas.microsoft.com/office/powerpoint/2010/main" val="226831425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F48B1-7E58-4369-B684-A45E8570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Necessidade / Problema a resolver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B141FE6-FB25-4452-8E5F-1B75475DF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r>
              <a:rPr lang="pt-PT" sz="1300" b="1" dirty="0">
                <a:solidFill>
                  <a:srgbClr val="1856B8"/>
                </a:solidFill>
              </a:rPr>
              <a:t>Descrição do problema</a:t>
            </a:r>
          </a:p>
          <a:p>
            <a:r>
              <a:rPr lang="pt-PT" sz="1100" dirty="0">
                <a:solidFill>
                  <a:srgbClr val="1A1A2E"/>
                </a:solidFill>
              </a:rPr>
              <a:t>Os processos de pessoas (férias, ausências, permissões, perfil) estão fragmentados por email,</a:t>
            </a:r>
          </a:p>
          <a:p>
            <a:r>
              <a:rPr lang="pt-PT" sz="1100" dirty="0">
                <a:solidFill>
                  <a:srgbClr val="1A1A2E"/>
                </a:solidFill>
              </a:rPr>
              <a:t>folhas de cálculo e validações informais — gerando atraso, erro humano e fraca rastreabilidade.</a:t>
            </a:r>
          </a:p>
          <a:p>
            <a:endParaRPr lang="pt-PT" sz="1100" dirty="0">
              <a:solidFill>
                <a:srgbClr val="1A1A2E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Situação atual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Dados de colaborador dispersos e nem sempre atualizados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Pedidos de férias dependem de validação manual, sem visibilidade ponta a ponta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Controlo de permissões não centralizado na mesma lógica operacional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Dificuldade em refletir regras diferentes por país, equipa e hierarquia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Histórico de decisões e grants/revokes não é imediato nem uniforme</a:t>
            </a:r>
          </a:p>
          <a:p>
            <a:endParaRPr lang="pt-PT" sz="1000" dirty="0">
              <a:solidFill>
                <a:srgbClr val="5C6475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Métricas atuais → meta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Tempo médio de aprovação:  72–120h  →  ≤ 24h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Produção do mapa anual de férias:  20–40 min  →  &lt; 2 min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Pedidos com retrabalho:  10–20%  →  ≤ 5%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Registos pessoais desatualizados:  18–25%  →  ≤ 5%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SLA de notificação após decisão:  2–6h  →  ≤ 15 min</a:t>
            </a:r>
          </a:p>
        </p:txBody>
      </p:sp>
    </p:spTree>
    <p:extLst>
      <p:ext uri="{BB962C8B-B14F-4D97-AF65-F5344CB8AC3E}">
        <p14:creationId xmlns:p14="http://schemas.microsoft.com/office/powerpoint/2010/main" val="4008698049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C1A1-D1F5-0F65-2B59-4225A21F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D15795-37BD-587E-E5F6-12AC71CA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Necessidade / Problema a resolver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A8A7C52-8C94-6524-6843-8CFA7B274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pPr marL="114300" indent="0">
              <a:buNone/>
            </a:pPr>
            <a:endParaRPr lang="pt-PT" sz="1000" dirty="0">
              <a:solidFill>
                <a:srgbClr val="5C6475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Situação futura esperada</a:t>
            </a:r>
          </a:p>
          <a:p>
            <a:r>
              <a:rPr lang="pt-PT" sz="1100" dirty="0">
                <a:solidFill>
                  <a:srgbClr val="1A1A2E"/>
                </a:solidFill>
              </a:rPr>
              <a:t>Plataforma única onde pedidos são criados, validados, decididos e consultados no mesmo contexto,</a:t>
            </a:r>
          </a:p>
          <a:p>
            <a:r>
              <a:rPr lang="pt-PT" sz="1100" dirty="0">
                <a:solidFill>
                  <a:srgbClr val="1A1A2E"/>
                </a:solidFill>
              </a:rPr>
              <a:t>com regras coerentes por escopo e histórico rastreável de todos os eventos relevantes.</a:t>
            </a:r>
          </a:p>
          <a:p>
            <a:endParaRPr lang="pt-PT" sz="1100" dirty="0">
              <a:solidFill>
                <a:srgbClr val="1A1A2E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Objetivo geral</a:t>
            </a:r>
          </a:p>
          <a:p>
            <a:r>
              <a:rPr lang="pt-PT" sz="1100" dirty="0">
                <a:solidFill>
                  <a:srgbClr val="1A1A2E"/>
                </a:solidFill>
              </a:rPr>
              <a:t>Conceber uma plataforma integrada para gestão de processos de pessoas, garantindo eficiência</a:t>
            </a:r>
          </a:p>
          <a:p>
            <a:r>
              <a:rPr lang="pt-PT" sz="1100" dirty="0">
                <a:solidFill>
                  <a:srgbClr val="1A1A2E"/>
                </a:solidFill>
              </a:rPr>
              <a:t>operacional, controlo de acessos, rastreabilidade de decisão e suporte ao planeamento de equipas.</a:t>
            </a:r>
          </a:p>
          <a:p>
            <a:endParaRPr lang="pt-PT" sz="1100" dirty="0">
              <a:solidFill>
                <a:srgbClr val="1A1A2E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Objetivos específicos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1. Estruturar o fluxo de pedido, validação e aprovação de férias e ausências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2. Centralizar permissões e acessos por utilizador, escopo e privilégio elevado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3. Refletir regras de negócio por país e contexto organizacional (PT/BR)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4. Disponibilizar exportação e visão operacional para apoio à decisão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5. Garantir histórico auditável de ações sensíveis</a:t>
            </a:r>
          </a:p>
        </p:txBody>
      </p:sp>
    </p:spTree>
    <p:extLst>
      <p:ext uri="{BB962C8B-B14F-4D97-AF65-F5344CB8AC3E}">
        <p14:creationId xmlns:p14="http://schemas.microsoft.com/office/powerpoint/2010/main" val="3303735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51E77-DB97-C929-CF17-3D644622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8A072-F926-052D-27DB-2F71D7FC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Contexto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3B69BD01-50B0-F7CD-87DE-1626E8D8D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r>
              <a:rPr lang="pt-PT" sz="1300" b="1" dirty="0">
                <a:solidFill>
                  <a:srgbClr val="1856B8"/>
                </a:solidFill>
              </a:rPr>
              <a:t>Descrição da empresa</a:t>
            </a:r>
          </a:p>
          <a:p>
            <a:r>
              <a:rPr lang="pt-PT" sz="1100" dirty="0">
                <a:solidFill>
                  <a:srgbClr val="1A1A2E"/>
                </a:solidFill>
              </a:rPr>
              <a:t>A Tlantic Portugal é uma empresa de desenvolvimento de software com foco em eficiência</a:t>
            </a:r>
          </a:p>
          <a:p>
            <a:r>
              <a:rPr lang="pt-PT" sz="1100" dirty="0">
                <a:solidFill>
                  <a:srgbClr val="1A1A2E"/>
                </a:solidFill>
              </a:rPr>
              <a:t>operacional e gestão de pessoas em operações intensivas em mão-de-obra.</a:t>
            </a:r>
          </a:p>
          <a:p>
            <a:r>
              <a:rPr lang="pt-PT" sz="1100" dirty="0">
                <a:solidFill>
                  <a:srgbClr val="1A1A2E"/>
                </a:solidFill>
              </a:rPr>
              <a:t>O SMARTER HUB responde a necessidades reais de organização de informação de colaborador,</a:t>
            </a:r>
          </a:p>
          <a:p>
            <a:r>
              <a:rPr lang="pt-PT" sz="1100" dirty="0">
                <a:solidFill>
                  <a:srgbClr val="1A1A2E"/>
                </a:solidFill>
              </a:rPr>
              <a:t>governação por permissões, padronização de processos e apoio à decisão operacional.</a:t>
            </a:r>
          </a:p>
          <a:p>
            <a:endParaRPr lang="pt-PT" sz="1100" dirty="0">
              <a:solidFill>
                <a:srgbClr val="1A1A2E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Contextualização na área de negócio</a:t>
            </a:r>
          </a:p>
          <a:p>
            <a:r>
              <a:rPr lang="pt-PT" sz="1100" dirty="0">
                <a:solidFill>
                  <a:srgbClr val="1A1A2E"/>
                </a:solidFill>
              </a:rPr>
              <a:t>O problema situa-se no domínio do software de gestão operacional de pessoas. A fragmentação</a:t>
            </a:r>
          </a:p>
          <a:p>
            <a:r>
              <a:rPr lang="pt-PT" sz="1100" dirty="0">
                <a:solidFill>
                  <a:srgbClr val="1A1A2E"/>
                </a:solidFill>
              </a:rPr>
              <a:t>atual de processos (email, Excel, validações informais) gera atraso, erro humano e baixa</a:t>
            </a:r>
          </a:p>
          <a:p>
            <a:r>
              <a:rPr lang="pt-PT" sz="1100" dirty="0">
                <a:solidFill>
                  <a:srgbClr val="1A1A2E"/>
                </a:solidFill>
              </a:rPr>
              <a:t>rastreabilidade. O valor do projeto está em consolidar esses fluxos numa plataforma única.</a:t>
            </a:r>
          </a:p>
          <a:p>
            <a:endParaRPr lang="pt-PT" sz="1100" dirty="0">
              <a:solidFill>
                <a:srgbClr val="1A1A2E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Estado da arte - abordagens recorrentes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Folhas de cálculo e email - baixo custo, pouca rastreabilidade, forte dependência manual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Módulos dispersos - reduz visão integrada do processo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Plataformas </a:t>
            </a:r>
            <a:r>
              <a:rPr lang="pt-PT" sz="1000" dirty="0" err="1">
                <a:solidFill>
                  <a:srgbClr val="5C6475"/>
                </a:solidFill>
              </a:rPr>
              <a:t>enterprise</a:t>
            </a:r>
            <a:r>
              <a:rPr lang="pt-PT" sz="1000" dirty="0">
                <a:solidFill>
                  <a:srgbClr val="5C6475"/>
                </a:solidFill>
              </a:rPr>
              <a:t> - robustas mas pesadas e menos ajustadas a contextos específicos</a:t>
            </a:r>
          </a:p>
          <a:p>
            <a:r>
              <a:rPr lang="pt-PT" sz="1100" dirty="0">
                <a:solidFill>
                  <a:srgbClr val="1A1A2E"/>
                </a:solidFill>
              </a:rPr>
              <a:t>Princípios a reter: workflows com estados explícitos, controlo de acesso por permissão efetiva,</a:t>
            </a:r>
          </a:p>
          <a:p>
            <a:r>
              <a:rPr lang="pt-PT" sz="1100" dirty="0">
                <a:solidFill>
                  <a:srgbClr val="1A1A2E"/>
                </a:solidFill>
              </a:rPr>
              <a:t>produção de evidências auditáveis para decisões sensíveis.</a:t>
            </a:r>
          </a:p>
        </p:txBody>
      </p:sp>
    </p:spTree>
    <p:extLst>
      <p:ext uri="{BB962C8B-B14F-4D97-AF65-F5344CB8AC3E}">
        <p14:creationId xmlns:p14="http://schemas.microsoft.com/office/powerpoint/2010/main" val="274945512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30F7-DD7A-FCBA-3B05-3A22158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3A04C-A61F-B720-B7F1-5091165A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Contexto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3758257-7DBE-B63D-8A56-A2631DAB0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pPr marL="114300" indent="0">
              <a:buNone/>
            </a:pPr>
            <a:endParaRPr lang="pt-PT" sz="1100" dirty="0">
              <a:solidFill>
                <a:srgbClr val="1A1A2E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Temas a pesquisar</a:t>
            </a:r>
          </a:p>
          <a:p>
            <a:pPr lvl="1"/>
            <a:r>
              <a:rPr lang="pt-PT" sz="1000" dirty="0" err="1">
                <a:solidFill>
                  <a:srgbClr val="5C6475"/>
                </a:solidFill>
              </a:rPr>
              <a:t>Workflows</a:t>
            </a:r>
            <a:r>
              <a:rPr lang="pt-PT" sz="1000" dirty="0">
                <a:solidFill>
                  <a:srgbClr val="5C6475"/>
                </a:solidFill>
              </a:rPr>
              <a:t> de aprovação </a:t>
            </a:r>
            <a:r>
              <a:rPr lang="pt-PT" sz="1000" dirty="0" err="1">
                <a:solidFill>
                  <a:srgbClr val="5C6475"/>
                </a:solidFill>
              </a:rPr>
              <a:t>multi-nível</a:t>
            </a:r>
            <a:endParaRPr lang="pt-PT" sz="1000" dirty="0">
              <a:solidFill>
                <a:srgbClr val="5C6475"/>
              </a:solidFill>
            </a:endParaRP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Modelos de controlo de acesso baseados em permissão e escopo (RBAC/PBAC)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Regras operacionais e legais diferenciadas por país (PT/BR)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Histórico </a:t>
            </a:r>
            <a:r>
              <a:rPr lang="pt-PT" sz="1000" dirty="0" err="1">
                <a:solidFill>
                  <a:srgbClr val="5C6475"/>
                </a:solidFill>
              </a:rPr>
              <a:t>auditável</a:t>
            </a:r>
            <a:r>
              <a:rPr lang="pt-PT" sz="1000" dirty="0">
                <a:solidFill>
                  <a:srgbClr val="5C6475"/>
                </a:solidFill>
              </a:rPr>
              <a:t> e rastreabilidade de decisão</a:t>
            </a:r>
          </a:p>
          <a:p>
            <a:pPr lvl="1"/>
            <a:r>
              <a:rPr lang="pt-PT" sz="1000" dirty="0" err="1">
                <a:solidFill>
                  <a:srgbClr val="5C6475"/>
                </a:solidFill>
              </a:rPr>
              <a:t>Reporting</a:t>
            </a:r>
            <a:r>
              <a:rPr lang="pt-PT" sz="1000" dirty="0">
                <a:solidFill>
                  <a:srgbClr val="5C6475"/>
                </a:solidFill>
              </a:rPr>
              <a:t> operacional e exportação de dados para apoio à decisão</a:t>
            </a:r>
          </a:p>
          <a:p>
            <a:endParaRPr lang="pt-PT" sz="1000" dirty="0">
              <a:solidFill>
                <a:srgbClr val="5C6475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Tecnologias a utilizar</a:t>
            </a:r>
          </a:p>
          <a:p>
            <a:pPr lvl="1"/>
            <a:r>
              <a:rPr lang="pt-PT" sz="1000" dirty="0" err="1">
                <a:solidFill>
                  <a:srgbClr val="5C6475"/>
                </a:solidFill>
              </a:rPr>
              <a:t>Frontend</a:t>
            </a:r>
            <a:r>
              <a:rPr lang="pt-PT" sz="1000" dirty="0">
                <a:solidFill>
                  <a:srgbClr val="5C6475"/>
                </a:solidFill>
              </a:rPr>
              <a:t>: </a:t>
            </a:r>
            <a:r>
              <a:rPr lang="pt-PT" sz="1000" dirty="0" err="1">
                <a:solidFill>
                  <a:srgbClr val="5C6475"/>
                </a:solidFill>
              </a:rPr>
              <a:t>React</a:t>
            </a:r>
            <a:r>
              <a:rPr lang="pt-PT" sz="1000" dirty="0">
                <a:solidFill>
                  <a:srgbClr val="5C6475"/>
                </a:solidFill>
              </a:rPr>
              <a:t> + </a:t>
            </a:r>
            <a:r>
              <a:rPr lang="pt-PT" sz="1000" dirty="0" err="1">
                <a:solidFill>
                  <a:srgbClr val="5C6475"/>
                </a:solidFill>
              </a:rPr>
              <a:t>TypeScript</a:t>
            </a:r>
            <a:r>
              <a:rPr lang="pt-PT" sz="1000" dirty="0">
                <a:solidFill>
                  <a:srgbClr val="5C6475"/>
                </a:solidFill>
              </a:rPr>
              <a:t> + </a:t>
            </a:r>
            <a:r>
              <a:rPr lang="pt-PT" sz="1000" dirty="0" err="1">
                <a:solidFill>
                  <a:srgbClr val="5C6475"/>
                </a:solidFill>
              </a:rPr>
              <a:t>Vite</a:t>
            </a:r>
            <a:endParaRPr lang="pt-PT" sz="1000" dirty="0">
              <a:solidFill>
                <a:srgbClr val="5C6475"/>
              </a:solidFill>
            </a:endParaRPr>
          </a:p>
          <a:p>
            <a:pPr lvl="1"/>
            <a:r>
              <a:rPr lang="pt-PT" sz="1000" dirty="0" err="1">
                <a:solidFill>
                  <a:srgbClr val="5C6475"/>
                </a:solidFill>
              </a:rPr>
              <a:t>Backend</a:t>
            </a:r>
            <a:r>
              <a:rPr lang="pt-PT" sz="1000" dirty="0">
                <a:solidFill>
                  <a:srgbClr val="5C6475"/>
                </a:solidFill>
              </a:rPr>
              <a:t>: Node.js + Express + </a:t>
            </a:r>
            <a:r>
              <a:rPr lang="pt-PT" sz="1000" dirty="0" err="1">
                <a:solidFill>
                  <a:srgbClr val="5C6475"/>
                </a:solidFill>
              </a:rPr>
              <a:t>TypeScript</a:t>
            </a:r>
            <a:endParaRPr lang="pt-PT" sz="1000" dirty="0">
              <a:solidFill>
                <a:srgbClr val="5C6475"/>
              </a:solidFill>
            </a:endParaRP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Persistência: </a:t>
            </a:r>
            <a:r>
              <a:rPr lang="pt-PT" sz="1000" dirty="0" err="1">
                <a:solidFill>
                  <a:srgbClr val="5C6475"/>
                </a:solidFill>
              </a:rPr>
              <a:t>PostgreSQL</a:t>
            </a:r>
            <a:r>
              <a:rPr lang="pt-PT" sz="1000" dirty="0">
                <a:solidFill>
                  <a:srgbClr val="5C6475"/>
                </a:solidFill>
              </a:rPr>
              <a:t> + Prisma (ORM)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Testes: </a:t>
            </a:r>
            <a:r>
              <a:rPr lang="pt-PT" sz="1000" dirty="0" err="1">
                <a:solidFill>
                  <a:srgbClr val="5C6475"/>
                </a:solidFill>
              </a:rPr>
              <a:t>Vitest</a:t>
            </a:r>
            <a:r>
              <a:rPr lang="pt-PT" sz="1000" dirty="0">
                <a:solidFill>
                  <a:srgbClr val="5C6475"/>
                </a:solidFill>
              </a:rPr>
              <a:t> + </a:t>
            </a:r>
            <a:r>
              <a:rPr lang="pt-PT" sz="1000" dirty="0" err="1">
                <a:solidFill>
                  <a:srgbClr val="5C6475"/>
                </a:solidFill>
              </a:rPr>
              <a:t>Supertest</a:t>
            </a:r>
            <a:r>
              <a:rPr lang="pt-PT" sz="1000" dirty="0">
                <a:solidFill>
                  <a:srgbClr val="5C6475"/>
                </a:solidFill>
              </a:rPr>
              <a:t> + </a:t>
            </a:r>
            <a:r>
              <a:rPr lang="pt-PT" sz="1000" dirty="0" err="1">
                <a:solidFill>
                  <a:srgbClr val="5C6475"/>
                </a:solidFill>
              </a:rPr>
              <a:t>Playwright</a:t>
            </a:r>
            <a:endParaRPr lang="pt-PT" sz="1000" dirty="0">
              <a:solidFill>
                <a:srgbClr val="5C6475"/>
              </a:solidFill>
            </a:endParaRP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Exportação: </a:t>
            </a:r>
            <a:r>
              <a:rPr lang="pt-PT" sz="1000" dirty="0" err="1">
                <a:solidFill>
                  <a:srgbClr val="5C6475"/>
                </a:solidFill>
              </a:rPr>
              <a:t>ExcelJS</a:t>
            </a:r>
            <a:r>
              <a:rPr lang="pt-PT" sz="1000" dirty="0">
                <a:solidFill>
                  <a:srgbClr val="5C6475"/>
                </a:solidFill>
              </a:rPr>
              <a:t> (mapa anual de férias XLSX)</a:t>
            </a:r>
          </a:p>
        </p:txBody>
      </p:sp>
    </p:spTree>
    <p:extLst>
      <p:ext uri="{BB962C8B-B14F-4D97-AF65-F5344CB8AC3E}">
        <p14:creationId xmlns:p14="http://schemas.microsoft.com/office/powerpoint/2010/main" val="563404411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DF48B1-7E58-4369-B684-A45E8570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Solução a implementar </a:t>
            </a:r>
            <a:r>
              <a:rPr lang="pt-PT" sz="2000" dirty="0"/>
              <a:t>(se aplicável já nesta fase)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B141FE6-FB25-4452-8E5F-1B75475DF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r>
              <a:rPr lang="pt-PT" sz="1300" b="1" dirty="0">
                <a:solidFill>
                  <a:srgbClr val="1856B8"/>
                </a:solidFill>
              </a:rPr>
              <a:t>Descrição da solução</a:t>
            </a:r>
          </a:p>
          <a:p>
            <a:r>
              <a:rPr lang="pt-PT" sz="1100" dirty="0">
                <a:solidFill>
                  <a:srgbClr val="1A1A2E"/>
                </a:solidFill>
              </a:rPr>
              <a:t>O SMARTER HUB é uma plataforma web integrada com autorização por permissões efetivas</a:t>
            </a:r>
          </a:p>
          <a:p>
            <a:r>
              <a:rPr lang="pt-PT" sz="1100" dirty="0">
                <a:solidFill>
                  <a:srgbClr val="1A1A2E"/>
                </a:solidFill>
              </a:rPr>
              <a:t>(não papéis fixos). Cada ação valida permissão + escopo + sinalizadores de privilégio elevado,</a:t>
            </a:r>
          </a:p>
          <a:p>
            <a:r>
              <a:rPr lang="pt-PT" sz="1100" dirty="0">
                <a:solidFill>
                  <a:srgbClr val="1A1A2E"/>
                </a:solidFill>
              </a:rPr>
              <a:t>com trilho auditável de todas as alterações de acesso.</a:t>
            </a:r>
          </a:p>
          <a:p>
            <a:r>
              <a:rPr lang="pt-PT" sz="1100" dirty="0">
                <a:solidFill>
                  <a:srgbClr val="1A1A2E"/>
                </a:solidFill>
              </a:rPr>
              <a:t>10 módulos: Férias/ausências · Permissões · Perfil · Notificações · Estrutura organizacional</a:t>
            </a:r>
          </a:p>
          <a:p>
            <a:r>
              <a:rPr lang="pt-PT" sz="1100" dirty="0">
                <a:solidFill>
                  <a:srgbClr val="1A1A2E"/>
                </a:solidFill>
              </a:rPr>
              <a:t>Reporting · Autenticação · Formações · Dias extra/saldo · Ficheiros e anexos</a:t>
            </a:r>
          </a:p>
          <a:p>
            <a:endParaRPr lang="pt-PT" sz="1100" dirty="0">
              <a:solidFill>
                <a:srgbClr val="1A1A2E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Elementos de análise — Use Cases (UC01–UC39)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UC01–03  Autenticação (credenciais, Microsoft OAuth, sessão /auth/me)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UC04–08  Perfil do colaborador e fluxo de aprovação de alterações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UC09–20  Ciclo completo de férias: submissão, edição, cancelamento, aprovação, exportação XLSX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UC21–27  Governança de permissões: grant, revoke, acesso total, auditoria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UC28      Notificações: leitura individual, em lote, eliminação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UC29–34  Estrutura organizacional e administração de utilizadores/equipas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UC35–37  Formações: criação, atribuição, conclusão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UC38–39  Upload de ficheiros e </a:t>
            </a:r>
            <a:r>
              <a:rPr lang="pt-PT" sz="1000" dirty="0" err="1">
                <a:solidFill>
                  <a:srgbClr val="5C6475"/>
                </a:solidFill>
              </a:rPr>
              <a:t>dashboard</a:t>
            </a:r>
            <a:r>
              <a:rPr lang="pt-PT" sz="1000" dirty="0">
                <a:solidFill>
                  <a:srgbClr val="5C6475"/>
                </a:solidFill>
              </a:rPr>
              <a:t> operacional</a:t>
            </a:r>
          </a:p>
        </p:txBody>
      </p:sp>
    </p:spTree>
    <p:extLst>
      <p:ext uri="{BB962C8B-B14F-4D97-AF65-F5344CB8AC3E}">
        <p14:creationId xmlns:p14="http://schemas.microsoft.com/office/powerpoint/2010/main" val="1575781085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3D44-5919-2294-81BE-E3054CE4A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CB11A-B661-1D9F-439E-0A041292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Solução a implementar </a:t>
            </a:r>
            <a:r>
              <a:rPr lang="pt-PT" sz="2000" dirty="0"/>
              <a:t>(se aplicável já nesta fase)</a:t>
            </a:r>
            <a:endParaRPr lang="pt-PT" dirty="0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1548714-21BC-F2A1-6633-0AD9950A7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pPr marL="114300" indent="0">
              <a:buNone/>
            </a:pPr>
            <a:endParaRPr lang="pt-PT" sz="1000" dirty="0">
              <a:solidFill>
                <a:srgbClr val="5C6475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Elementos de análise — User Stories (US01–US39)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Alta prioridade: autenticação, férias (submissão/aprovação), permissões, exportação XLSX,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memberships, gestão de utilizadores, crédito de saldo, auditoria de grants/revokes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Média prioridade: perfil, sessão, notificações, dashboard, configuração de dias extra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Baixa prioridade: formações (catálogo, atribuição, conclusão)</a:t>
            </a:r>
          </a:p>
          <a:p>
            <a:endParaRPr lang="pt-PT" sz="1000" dirty="0">
              <a:solidFill>
                <a:srgbClr val="5C6475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Descrição técnica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Frontend — React + TypeScript + Vite: páginas por domínio, comunicação REST, cache local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Backend — Express + TypeScript: rotas por contexto, validação Zod, motor de autorização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Base de dados — PostgreSQL + Prisma: pedido, aprovação, permissão, auditoria, equipas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Autenticação — JWT + Microsoft OAuth: Bearer token validado em cada pedido autenticado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Testes — Vitest + Supertest + Playwright: cobertura unitária, integração e E2E</a:t>
            </a:r>
          </a:p>
        </p:txBody>
      </p:sp>
    </p:spTree>
    <p:extLst>
      <p:ext uri="{BB962C8B-B14F-4D97-AF65-F5344CB8AC3E}">
        <p14:creationId xmlns:p14="http://schemas.microsoft.com/office/powerpoint/2010/main" val="159018000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685800" y="1066799"/>
            <a:ext cx="8534400" cy="5107757"/>
          </a:xfrm>
          <a:prstGeom prst="rect">
            <a:avLst/>
          </a:prstGeom>
          <a:noFill/>
          <a:ln>
            <a:noFill/>
          </a:ln>
        </p:spPr>
        <p:txBody>
          <a:bodyPr wrap="square" lIns="90000" tIns="45700" rIns="91425" bIns="45700" anchor="t" anchorCtr="0">
            <a:noAutofit/>
          </a:bodyPr>
          <a:lstStyle/>
          <a:p>
            <a:pPr marL="0" marR="0" algn="l" rtl="0" fontAlgn="t">
              <a:spcBef>
                <a:spcPts val="0"/>
              </a:spcBef>
              <a:spcAft>
                <a:spcPts val="0"/>
              </a:spcAft>
            </a:pPr>
            <a:r>
              <a:rPr lang="pt-PT" dirty="0"/>
              <a:t>Plano inicial (</a:t>
            </a:r>
            <a:r>
              <a:rPr lang="pt-PT" sz="2400" b="0" dirty="0"/>
              <a:t>ver </a:t>
            </a:r>
            <a:r>
              <a:rPr lang="pt-PT" sz="2400" b="0" i="1" dirty="0" err="1"/>
              <a:t>checklist</a:t>
            </a:r>
            <a:r>
              <a:rPr lang="pt-PT" dirty="0"/>
              <a:t>)</a:t>
            </a:r>
            <a:br>
              <a:rPr lang="pt-PT" dirty="0"/>
            </a:b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endParaRPr lang="pt-PT" b="0" dirty="0">
              <a:solidFill>
                <a:schemeClr val="dk1"/>
              </a:solidFill>
            </a:endParaRP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37C9DBE-ABA0-974D-04B5-2BC87BDD8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r>
              <a:rPr lang="pt-PT" sz="1100" dirty="0">
                <a:solidFill>
                  <a:srgbClr val="1A1A2E"/>
                </a:solidFill>
              </a:rPr>
              <a:t>Plano detalhado disponível no ficheiro gantt_chart_pc2.xlsx (incluído na pasta PC2).</a:t>
            </a:r>
          </a:p>
          <a:p>
            <a:endParaRPr lang="pt-PT" sz="1100" dirty="0">
              <a:solidFill>
                <a:srgbClr val="1A1A2E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Blocos do plano e estado atual</a:t>
            </a:r>
          </a:p>
          <a:p>
            <a:r>
              <a:rPr lang="pt-PT" sz="1100" b="1" dirty="0">
                <a:solidFill>
                  <a:srgbClr val="0C2A59"/>
                </a:solidFill>
              </a:rPr>
              <a:t>1. Iniciação e arranque  |  07/04 – 15/04  |  100%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Onboarding na Tlantic · Formação inicial · Levantamento macro do problema e stakeholders</a:t>
            </a:r>
          </a:p>
          <a:p>
            <a:r>
              <a:rPr lang="pt-PT" sz="1100" b="1" dirty="0">
                <a:solidFill>
                  <a:srgbClr val="0C2A59"/>
                </a:solidFill>
              </a:rPr>
              <a:t>2. Planeamento inicial  |  16/04 – 01/05  |  100%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Backlog inicial · Setup documental · Marco PC2 entregue</a:t>
            </a:r>
          </a:p>
          <a:p>
            <a:r>
              <a:rPr lang="pt-PT" sz="1100" b="1" dirty="0">
                <a:solidFill>
                  <a:srgbClr val="0C2A59"/>
                </a:solidFill>
              </a:rPr>
              <a:t>3. Análise, Desenho e Arquitetura  |  22/04 – 22/05  |  100%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Análise de requisitos por domínio (RBAC, férias, permissões, auditoria)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Desenho funcional · Use Cases · User Stories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Arquitetura técnica · Modelo de dados · Definição de API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Prototipagem UX e navegação da aplicação</a:t>
            </a:r>
          </a:p>
          <a:p>
            <a:r>
              <a:rPr lang="pt-PT" sz="1100" b="1" dirty="0">
                <a:solidFill>
                  <a:srgbClr val="0C2A59"/>
                </a:solidFill>
              </a:rPr>
              <a:t>4. Desenvolvimento da solução  |  22/04 – 12/06  |  Em curso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Implementação progressiva dos módulos do MVP e validação por testes</a:t>
            </a:r>
          </a:p>
          <a:p>
            <a:r>
              <a:rPr lang="pt-PT" sz="1100" b="1" dirty="0">
                <a:solidFill>
                  <a:srgbClr val="0C2A59"/>
                </a:solidFill>
              </a:rPr>
              <a:t>5. Consolidação e fecho  |  15/06 – 03/07  |  Planeado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Correção final · Estabilização · Preparação da apresentação e defesa</a:t>
            </a:r>
          </a:p>
          <a:p>
            <a:endParaRPr lang="pt-PT" sz="1000" dirty="0">
              <a:solidFill>
                <a:srgbClr val="5C6475"/>
              </a:solidFill>
            </a:endParaRPr>
          </a:p>
          <a:p>
            <a:r>
              <a:rPr lang="pt-PT" sz="1300" b="1" dirty="0">
                <a:solidFill>
                  <a:srgbClr val="1856B8"/>
                </a:solidFill>
              </a:rPr>
              <a:t>Marcos validados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PC1 - Arranque  |  100%  |  Marco de arranque validado com orientador e supervisora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PC2 - Planeamento inicial  |  100%  |  Este ponto de controlo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DB50A2C-D4B4-7AC1-F255-861E7B29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>
            <a:extLst>
              <a:ext uri="{FF2B5EF4-FFF2-40B4-BE49-F238E27FC236}">
                <a16:creationId xmlns:a16="http://schemas.microsoft.com/office/drawing/2014/main" id="{0FDED8CA-499E-4A18-8027-2CE1BD8F39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066799"/>
            <a:ext cx="8534400" cy="5107757"/>
          </a:xfrm>
          <a:prstGeom prst="rect">
            <a:avLst/>
          </a:prstGeom>
          <a:noFill/>
          <a:ln>
            <a:noFill/>
          </a:ln>
        </p:spPr>
        <p:txBody>
          <a:bodyPr wrap="square" lIns="90000" tIns="45700" rIns="91425" bIns="45700" anchor="t" anchorCtr="0">
            <a:noAutofit/>
          </a:bodyPr>
          <a:lstStyle/>
          <a:p>
            <a:pPr marL="0" marR="0" algn="l" rtl="0" fontAlgn="t">
              <a:spcBef>
                <a:spcPts val="0"/>
              </a:spcBef>
              <a:spcAft>
                <a:spcPts val="0"/>
              </a:spcAft>
            </a:pPr>
            <a:r>
              <a:rPr lang="pt-PT" dirty="0"/>
              <a:t>Riscos identificados</a:t>
            </a: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pt-PT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br>
              <a:rPr lang="pt-PT" sz="1800" b="0" i="0" u="none" strike="noStrike" dirty="0">
                <a:effectLst/>
                <a:latin typeface="Arial" panose="020B0604020202020204" pitchFamily="34" charset="0"/>
              </a:rPr>
            </a:br>
            <a:endParaRPr lang="pt-PT" b="0" dirty="0">
              <a:solidFill>
                <a:schemeClr val="dk1"/>
              </a:solidFill>
            </a:endParaRPr>
          </a:p>
        </p:txBody>
      </p:sp>
      <p:sp>
        <p:nvSpPr>
          <p:cNvPr id="2" name="Marcador de Posição do Texto 2">
            <a:extLst>
              <a:ext uri="{FF2B5EF4-FFF2-40B4-BE49-F238E27FC236}">
                <a16:creationId xmlns:a16="http://schemas.microsoft.com/office/drawing/2014/main" id="{BF483D6A-8A4A-E9F6-4587-74C0AF76D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714488"/>
            <a:ext cx="8534399" cy="4597102"/>
          </a:xfrm>
        </p:spPr>
        <p:txBody>
          <a:bodyPr/>
          <a:lstStyle/>
          <a:p>
            <a:r>
              <a:rPr lang="pt-PT" sz="1300" b="1" dirty="0">
                <a:solidFill>
                  <a:srgbClr val="1856B8"/>
                </a:solidFill>
              </a:rPr>
              <a:t>Riscos identificados e mitigação</a:t>
            </a:r>
          </a:p>
          <a:p>
            <a:endParaRPr lang="pt-PT" sz="1300" b="1" dirty="0">
              <a:solidFill>
                <a:srgbClr val="1856B8"/>
              </a:solidFill>
            </a:endParaRPr>
          </a:p>
          <a:p>
            <a:r>
              <a:rPr lang="pt-PT" sz="1100" b="1" dirty="0">
                <a:solidFill>
                  <a:srgbClr val="0C2A59"/>
                </a:solidFill>
              </a:rPr>
              <a:t>R1 — Alterações de regras sem atualizar documentação e testes  |  Impacto: Alto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Mitigação: atualizar artefactos funcionais no mesmo ciclo da mudança</a:t>
            </a:r>
          </a:p>
          <a:p>
            <a:endParaRPr lang="pt-PT" sz="1000" dirty="0">
              <a:solidFill>
                <a:srgbClr val="5C6475"/>
              </a:solidFill>
            </a:endParaRPr>
          </a:p>
          <a:p>
            <a:r>
              <a:rPr lang="pt-PT" sz="1100" b="1" dirty="0">
                <a:solidFill>
                  <a:srgbClr val="0C2A59"/>
                </a:solidFill>
              </a:rPr>
              <a:t>R2 — Erros em lógica de permissões e escalada indevida de privilégios  |  Impacto: Alto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Mitigação: validar operações por permissão efetiva, escopo e auditoria de grants/revokes</a:t>
            </a:r>
          </a:p>
          <a:p>
            <a:endParaRPr lang="pt-PT" sz="1000" dirty="0">
              <a:solidFill>
                <a:srgbClr val="5C6475"/>
              </a:solidFill>
            </a:endParaRPr>
          </a:p>
          <a:p>
            <a:r>
              <a:rPr lang="pt-PT" sz="1100" b="1" dirty="0">
                <a:solidFill>
                  <a:srgbClr val="0C2A59"/>
                </a:solidFill>
              </a:rPr>
              <a:t>R3 — Divergência entre hierarquia real e escopo operacional no sistema  |  Impacto: Médio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Mitigação: rever memberships, equipas e restrições de escopo com validação funcional</a:t>
            </a:r>
          </a:p>
          <a:p>
            <a:endParaRPr lang="pt-PT" sz="1000" dirty="0">
              <a:solidFill>
                <a:srgbClr val="5C6475"/>
              </a:solidFill>
            </a:endParaRPr>
          </a:p>
          <a:p>
            <a:r>
              <a:rPr lang="pt-PT" sz="1100" b="1" dirty="0">
                <a:solidFill>
                  <a:srgbClr val="0C2A59"/>
                </a:solidFill>
              </a:rPr>
              <a:t>R4 — Atraso na validação com stakeholders-chave  |  Impacto: Alto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Mitigação: antecipar recolha de feedback e aplicar time-box de revisão</a:t>
            </a:r>
          </a:p>
          <a:p>
            <a:endParaRPr lang="pt-PT" sz="1000" dirty="0">
              <a:solidFill>
                <a:srgbClr val="5C6475"/>
              </a:solidFill>
            </a:endParaRPr>
          </a:p>
          <a:p>
            <a:r>
              <a:rPr lang="pt-PT" sz="1100" b="1" dirty="0">
                <a:solidFill>
                  <a:srgbClr val="0C2A59"/>
                </a:solidFill>
              </a:rPr>
              <a:t>R5 — Acumulação de bugs críticos perto da entrega final  |  Impacto: Alto</a:t>
            </a:r>
          </a:p>
          <a:p>
            <a:pPr lvl="1"/>
            <a:r>
              <a:rPr lang="pt-PT" sz="1000" dirty="0">
                <a:solidFill>
                  <a:srgbClr val="5C6475"/>
                </a:solidFill>
              </a:rPr>
              <a:t>Mitigação: reservar janela de hardening; priorizar correção de bloqueadores</a:t>
            </a:r>
          </a:p>
        </p:txBody>
      </p:sp>
    </p:spTree>
    <p:extLst>
      <p:ext uri="{BB962C8B-B14F-4D97-AF65-F5344CB8AC3E}">
        <p14:creationId xmlns:p14="http://schemas.microsoft.com/office/powerpoint/2010/main" val="63165864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685800" y="1066799"/>
            <a:ext cx="8534400" cy="507477"/>
          </a:xfrm>
          <a:prstGeom prst="rect">
            <a:avLst/>
          </a:prstGeom>
          <a:noFill/>
          <a:ln>
            <a:noFill/>
          </a:ln>
        </p:spPr>
        <p:txBody>
          <a:bodyPr wrap="square" lIns="90000" tIns="45700" rIns="91425" bIns="45700" anchor="t" anchorCtr="0">
            <a:noAutofit/>
          </a:bodyPr>
          <a:lstStyle/>
          <a:p>
            <a:r>
              <a:rPr lang="pt-PT" dirty="0"/>
              <a:t>Ficheiros incluídos na pasta Ponto de Controlo 2</a:t>
            </a:r>
            <a:endParaRPr lang="pt-PT" b="0" dirty="0">
              <a:solidFill>
                <a:schemeClr val="dk1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13D2BA-859E-483F-B831-FB4EBCF3F9A0}"/>
              </a:ext>
            </a:extLst>
          </p:cNvPr>
          <p:cNvSpPr/>
          <p:nvPr/>
        </p:nvSpPr>
        <p:spPr>
          <a:xfrm>
            <a:off x="685800" y="1797287"/>
            <a:ext cx="836393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300" b="1" dirty="0">
                <a:solidFill>
                  <a:srgbClr val="1856B8"/>
                </a:solidFill>
              </a:rPr>
              <a:t>Ficheiros incluídos na pasta Ponto de Controlo 2</a:t>
            </a:r>
          </a:p>
          <a:p>
            <a:endParaRPr lang="pt-PT" sz="1300" b="1" dirty="0">
              <a:solidFill>
                <a:srgbClr val="1856B8"/>
              </a:solidFill>
            </a:endParaRPr>
          </a:p>
          <a:p>
            <a:r>
              <a:rPr lang="pt-PT" sz="1100" dirty="0">
                <a:solidFill>
                  <a:srgbClr val="1A1A2E"/>
                </a:solidFill>
              </a:rPr>
              <a:t>PROES_PC2_2025_2026.pptx  -  apresentação do ponto de controlo 2</a:t>
            </a:r>
          </a:p>
          <a:p>
            <a:r>
              <a:rPr lang="pt-PT" sz="1100" dirty="0">
                <a:solidFill>
                  <a:srgbClr val="1A1A2E"/>
                </a:solidFill>
              </a:rPr>
              <a:t>PROES_PC2_2025_2026.tex  - do documento de apoio</a:t>
            </a:r>
          </a:p>
          <a:p>
            <a:r>
              <a:rPr lang="pt-PT" sz="1100" dirty="0">
                <a:solidFill>
                  <a:srgbClr val="1A1A2E"/>
                </a:solidFill>
              </a:rPr>
              <a:t>gantt_chart_pc2.xlsx  -  plano inicial e cronograma do projeto</a:t>
            </a:r>
          </a:p>
          <a:p>
            <a:r>
              <a:rPr lang="pt-PT" sz="1100" dirty="0" err="1">
                <a:solidFill>
                  <a:srgbClr val="1A1A2E"/>
                </a:solidFill>
              </a:rPr>
              <a:t>REGRAS_PERFIS_E_FERIAS.tex</a:t>
            </a:r>
            <a:r>
              <a:rPr lang="pt-PT" sz="1100" dirty="0">
                <a:solidFill>
                  <a:srgbClr val="1A1A2E"/>
                </a:solidFill>
              </a:rPr>
              <a:t>  -  documento de regras funcionais do domínio</a:t>
            </a:r>
          </a:p>
        </p:txBody>
      </p:sp>
      <p:sp>
        <p:nvSpPr>
          <p:cNvPr id="2" name="Shape 88">
            <a:extLst>
              <a:ext uri="{FF2B5EF4-FFF2-40B4-BE49-F238E27FC236}">
                <a16:creationId xmlns:a16="http://schemas.microsoft.com/office/drawing/2014/main" id="{91388566-47D4-EC72-DCF0-3B1B8BB17586}"/>
              </a:ext>
            </a:extLst>
          </p:cNvPr>
          <p:cNvSpPr txBox="1">
            <a:spLocks/>
          </p:cNvSpPr>
          <p:nvPr/>
        </p:nvSpPr>
        <p:spPr>
          <a:xfrm>
            <a:off x="685800" y="3429000"/>
            <a:ext cx="8534400" cy="507477"/>
          </a:xfrm>
          <a:prstGeom prst="rect">
            <a:avLst/>
          </a:prstGeom>
          <a:noFill/>
          <a:ln>
            <a:noFill/>
          </a:ln>
        </p:spPr>
        <p:txBody>
          <a:bodyPr wrap="square" lIns="90000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pt-PT" dirty="0"/>
              <a:t>Alterações ao canal do Teams (se aplicável) </a:t>
            </a:r>
            <a:endParaRPr lang="pt-PT" b="0" dirty="0">
              <a:solidFill>
                <a:schemeClr val="dk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C71E78C-2D62-9D3F-3364-827D8736AFEB}"/>
              </a:ext>
            </a:extLst>
          </p:cNvPr>
          <p:cNvSpPr/>
          <p:nvPr/>
        </p:nvSpPr>
        <p:spPr>
          <a:xfrm>
            <a:off x="771034" y="3936477"/>
            <a:ext cx="8363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300" b="1" dirty="0">
                <a:solidFill>
                  <a:srgbClr val="1856B8"/>
                </a:solidFill>
              </a:rPr>
              <a:t>Alterações ao canal do Teams</a:t>
            </a:r>
          </a:p>
          <a:p>
            <a:r>
              <a:rPr lang="pt-PT" sz="1100" dirty="0">
                <a:solidFill>
                  <a:srgbClr val="1A1A2E"/>
                </a:solidFill>
              </a:rPr>
              <a:t>Não foram efetuadas alterações de tabs ou apps neste ponto de controlo.</a:t>
            </a:r>
          </a:p>
        </p:txBody>
      </p:sp>
    </p:spTree>
    <p:extLst>
      <p:ext uri="{BB962C8B-B14F-4D97-AF65-F5344CB8AC3E}">
        <p14:creationId xmlns:p14="http://schemas.microsoft.com/office/powerpoint/2010/main" val="2067733268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ISE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elo de apresentaçã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83D08A905528148BD52F20D46B37C46" ma:contentTypeVersion="3" ma:contentTypeDescription="Criar um novo documento." ma:contentTypeScope="" ma:versionID="d94727710e1efbdbb16af050ed520d76">
  <xsd:schema xmlns:xsd="http://www.w3.org/2001/XMLSchema" xmlns:xs="http://www.w3.org/2001/XMLSchema" xmlns:p="http://schemas.microsoft.com/office/2006/metadata/properties" xmlns:ns2="bb033ed8-b937-49d3-95fa-7472142d620e" targetNamespace="http://schemas.microsoft.com/office/2006/metadata/properties" ma:root="true" ma:fieldsID="234d9d22735c0423787a85d7e5d94fad" ns2:_="">
    <xsd:import namespace="bb033ed8-b937-49d3-95fa-7472142d62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033ed8-b937-49d3-95fa-7472142d62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1D928F-9ABC-4A93-A3F4-87F56E258C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2841B3-EA1C-431C-943C-16DFF5CD3EAB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ef9786d6-4f2c-4fbe-9caa-ddb5c41515a6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7BA14CF-B886-4406-9007-DB3D92F1EF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033ed8-b937-49d3-95fa-7472142d62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8861</TotalTime>
  <Words>1564</Words>
  <Application>Microsoft Office PowerPoint</Application>
  <PresentationFormat>Papel A4 (210x297 mm)</PresentationFormat>
  <Paragraphs>167</Paragraphs>
  <Slides>11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Kozuka Gothic Pro M</vt:lpstr>
      <vt:lpstr>ISEP</vt:lpstr>
      <vt:lpstr>Modelo de apresentação personalizado</vt:lpstr>
      <vt:lpstr>Apresentação do PowerPoint</vt:lpstr>
      <vt:lpstr>Identificação e stakeholders</vt:lpstr>
      <vt:lpstr>Necessidade / Problema a resolver</vt:lpstr>
      <vt:lpstr>Necessidade / Problema a resolver</vt:lpstr>
      <vt:lpstr>Contexto</vt:lpstr>
      <vt:lpstr>Contexto</vt:lpstr>
      <vt:lpstr>Solução a implementar (se aplicável já nesta fase)</vt:lpstr>
      <vt:lpstr>Solução a implementar (se aplicável já nesta fase)</vt:lpstr>
      <vt:lpstr>Plano inicial (ver checklist)                                                            </vt:lpstr>
      <vt:lpstr>Riscos identificados                                                          </vt:lpstr>
      <vt:lpstr>Ficheiros incluídos na pasta Ponto de Controlo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MCO;PBG;ABP</dc:creator>
  <cp:keywords>LES;ISEP</cp:keywords>
  <cp:lastModifiedBy>Patrick Dias Mendes Da Costa</cp:lastModifiedBy>
  <cp:revision>25</cp:revision>
  <dcterms:modified xsi:type="dcterms:W3CDTF">2026-04-29T08:48:36Z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0x010100883D08A905528148BD52F20D46B37C46</vt:lpwstr>
  </property>
</Properties>
</file>